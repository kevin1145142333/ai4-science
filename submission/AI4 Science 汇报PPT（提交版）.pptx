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3dabbe8794463f" /><Relationship Type="http://schemas.openxmlformats.org/officeDocument/2006/relationships/extended-properties" Target="/docProps/app.xml" Id="Rd0a1b4ef19ab4b73" /><Relationship Type="http://schemas.openxmlformats.org/officeDocument/2006/relationships/officeDocument" Target="/ppt/presentation.xml" Id="R138883ce178c41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522176dc4a4370"/>
  </p:sldMasterIdLst>
  <p:notesMasterIdLst>
    <p:notesMasterId xmlns:r="http://schemas.openxmlformats.org/officeDocument/2006/relationships" r:id="Ra159dcfc6c0349d3"/>
  </p:notesMasterIdLst>
  <p:sldIdLst>
    <p:sldId xmlns:r="http://schemas.openxmlformats.org/officeDocument/2006/relationships" id="256" r:id="Rd766d75f2de04e8d"/>
    <p:sldId xmlns:r="http://schemas.openxmlformats.org/officeDocument/2006/relationships" id="257" r:id="Rc9821770e3bf47d3"/>
    <p:sldId xmlns:r="http://schemas.openxmlformats.org/officeDocument/2006/relationships" id="258" r:id="R2ebd600543aa4a40"/>
    <p:sldId xmlns:r="http://schemas.openxmlformats.org/officeDocument/2006/relationships" id="259" r:id="Rfe2a8c29fcc246ec"/>
    <p:sldId xmlns:r="http://schemas.openxmlformats.org/officeDocument/2006/relationships" id="260" r:id="R86b53c661e1d43fc"/>
    <p:sldId xmlns:r="http://schemas.openxmlformats.org/officeDocument/2006/relationships" id="261" r:id="Rc3e9b2c7808e451b"/>
    <p:sldId xmlns:r="http://schemas.openxmlformats.org/officeDocument/2006/relationships" id="262" r:id="R71c9cf1d2f4f49a4"/>
    <p:sldId xmlns:r="http://schemas.openxmlformats.org/officeDocument/2006/relationships" id="263" r:id="R7b85755e4c114286"/>
    <p:sldId xmlns:r="http://schemas.openxmlformats.org/officeDocument/2006/relationships" id="264" r:id="Reea3d25a28424ab8"/>
    <p:sldId xmlns:r="http://schemas.openxmlformats.org/officeDocument/2006/relationships" id="265" r:id="Rc729ed86aaf94b2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2358ed43ac4035" /><Relationship Type="http://schemas.openxmlformats.org/officeDocument/2006/relationships/slideMaster" Target="/ppt/slideMasters/slideMaster1.xml" Id="R4f522176dc4a4370" /><Relationship Type="http://schemas.openxmlformats.org/officeDocument/2006/relationships/notesMaster" Target="/ppt/notesMasters/notesMaster1.xml" Id="Ra159dcfc6c0349d3" /><Relationship Type="http://schemas.openxmlformats.org/officeDocument/2006/relationships/presProps" Target="/ppt/presProps.xml" Id="Re7ad02ef99974a92" /><Relationship Type="http://schemas.openxmlformats.org/officeDocument/2006/relationships/tableStyles" Target="/ppt/tableStyles.xml" Id="R9fa0879d2cac4c97" /><Relationship Type="http://schemas.openxmlformats.org/officeDocument/2006/relationships/slide" Target="/ppt/slides/slide1.xml" Id="Rd766d75f2de04e8d" /><Relationship Type="http://schemas.openxmlformats.org/officeDocument/2006/relationships/slide" Target="/ppt/slides/slide2.xml" Id="Rc9821770e3bf47d3" /><Relationship Type="http://schemas.openxmlformats.org/officeDocument/2006/relationships/slide" Target="/ppt/slides/slide3.xml" Id="R2ebd600543aa4a40" /><Relationship Type="http://schemas.openxmlformats.org/officeDocument/2006/relationships/slide" Target="/ppt/slides/slide4.xml" Id="Rfe2a8c29fcc246ec" /><Relationship Type="http://schemas.openxmlformats.org/officeDocument/2006/relationships/slide" Target="/ppt/slides/slide5.xml" Id="R86b53c661e1d43fc" /><Relationship Type="http://schemas.openxmlformats.org/officeDocument/2006/relationships/slide" Target="/ppt/slides/slide6.xml" Id="Rc3e9b2c7808e451b" /><Relationship Type="http://schemas.openxmlformats.org/officeDocument/2006/relationships/slide" Target="/ppt/slides/slide7.xml" Id="R71c9cf1d2f4f49a4" /><Relationship Type="http://schemas.openxmlformats.org/officeDocument/2006/relationships/slide" Target="/ppt/slides/slide8.xml" Id="R7b85755e4c114286" /><Relationship Type="http://schemas.openxmlformats.org/officeDocument/2006/relationships/slide" Target="/ppt/slides/slide9.xml" Id="Reea3d25a28424ab8" /><Relationship Type="http://schemas.openxmlformats.org/officeDocument/2006/relationships/slide" Target="/ppt/slides/slide10.xml" Id="Rc729ed86aaf94b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55536a65354e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2c9d38565d4c69" /><Relationship Type="http://schemas.openxmlformats.org/officeDocument/2006/relationships/notesMaster" Target="/ppt/notesMasters/notesMaster1.xml" Id="R9e80166f61de44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2ec848983e45d5" /><Relationship Type="http://schemas.openxmlformats.org/officeDocument/2006/relationships/notesMaster" Target="/ppt/notesMasters/notesMaster1.xml" Id="R0983262c212044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321c87a1be44bb" /><Relationship Type="http://schemas.openxmlformats.org/officeDocument/2006/relationships/notesMaster" Target="/ppt/notesMasters/notesMaster1.xml" Id="R1a6dc6eccdba4e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f7cb49ed0748b6" /><Relationship Type="http://schemas.openxmlformats.org/officeDocument/2006/relationships/notesMaster" Target="/ppt/notesMasters/notesMaster1.xml" Id="R23ea0e9078ab4b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f53a35f6ee44cd" /><Relationship Type="http://schemas.openxmlformats.org/officeDocument/2006/relationships/notesMaster" Target="/ppt/notesMasters/notesMaster1.xml" Id="R2158b7e3599a4d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c3ca2596384771" /><Relationship Type="http://schemas.openxmlformats.org/officeDocument/2006/relationships/notesMaster" Target="/ppt/notesMasters/notesMaster1.xml" Id="R83e4543a881c4d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f31651295545f5" /><Relationship Type="http://schemas.openxmlformats.org/officeDocument/2006/relationships/notesMaster" Target="/ppt/notesMasters/notesMaster1.xml" Id="Rd60d776774494f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af9cd64cff4fc7" /><Relationship Type="http://schemas.openxmlformats.org/officeDocument/2006/relationships/notesMaster" Target="/ppt/notesMasters/notesMaster1.xml" Id="R3fa732f390fb4b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4c0383c539401b" /><Relationship Type="http://schemas.openxmlformats.org/officeDocument/2006/relationships/notesMaster" Target="/ppt/notesMasters/notesMaster1.xml" Id="R16d20cf0e21e49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09737e74234f57" /><Relationship Type="http://schemas.openxmlformats.org/officeDocument/2006/relationships/notesMaster" Target="/ppt/notesMasters/notesMaster1.xml" Id="Rc17d07142e634b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开场用一句话说明：这不是一个文献搜索框，而是一条从问题到报告的研究流水线。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四个断点对应后面的四类产物：文献清单、知识图谱、TRL 评估、创新假设。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七阶段对应代码中的 coordinator_agent 主流程，阶段进度会回传到任务中心。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强调所有能力围绕同一份证据链展开，而不是五个互不相干的工具。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这一页回答技术实现：不是把模型包一层，而是把检索、图分析、评估和生成拆成可调度的阶段。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现场演示可在这里输入“探索钙钛矿太阳能电池的长期稳定性提升策略”，选择全面深度后启动。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指标是内置演示数据，不代表真实检索规模；下一部分再展示真实任务的验证结果。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图谱和图表用的都是同一份演示数据，目的是展示交互与口径一致性。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这一页把“能跑”变成可核对的数据：真实任务规模、测试结果和离线演示。TRL 9 要明确是系统评估。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收尾不要只讲愿景，明确当前边界：英文检索、mock 降级、任务持久化仍在后续计划中。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4e2108e3ef4e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9f8f45113243e2" /><Relationship Type="http://schemas.openxmlformats.org/officeDocument/2006/relationships/slideLayout" Target="/ppt/slideLayouts/slideLayout1.xml" Id="R9c9f8c54017c4f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9f8c54017c4f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95d456fe54dc7" /><Relationship Type="http://schemas.openxmlformats.org/officeDocument/2006/relationships/notesSlide" Target="/ppt/notesSlides/notesSlide1.xml" Id="R0613f6a42f8043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6dd613cb04d21" /><Relationship Type="http://schemas.openxmlformats.org/officeDocument/2006/relationships/notesSlide" Target="/ppt/notesSlides/notesSlide2.xml" Id="Rb4bd5754789e41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6b53aba18427a" /><Relationship Type="http://schemas.openxmlformats.org/officeDocument/2006/relationships/notesSlide" Target="/ppt/notesSlides/notesSlide3.xml" Id="R0cd5186b3eca40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9a28bd2d943d4" /><Relationship Type="http://schemas.openxmlformats.org/officeDocument/2006/relationships/notesSlide" Target="/ppt/notesSlides/notesSlide4.xml" Id="Rad4f25a8f03347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c4ba8b6614615" /><Relationship Type="http://schemas.openxmlformats.org/officeDocument/2006/relationships/notesSlide" Target="/ppt/notesSlides/notesSlide5.xml" Id="Rb0efbc38537f4b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de51ff65f4121" /><Relationship Type="http://schemas.openxmlformats.org/officeDocument/2006/relationships/image" Target="/ppt/media/image.png" Id="R3b3441cf0bb84d71" /><Relationship Type="http://schemas.openxmlformats.org/officeDocument/2006/relationships/notesSlide" Target="/ppt/notesSlides/notesSlide6.xml" Id="R3062506f9f304a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31e8437c64e32" /><Relationship Type="http://schemas.openxmlformats.org/officeDocument/2006/relationships/image" Target="/ppt/media/image2.png" Id="R58270ed0e76f45ab" /><Relationship Type="http://schemas.openxmlformats.org/officeDocument/2006/relationships/notesSlide" Target="/ppt/notesSlides/notesSlide7.xml" Id="R28d1ea637d5943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52e0ac9474c86" /><Relationship Type="http://schemas.openxmlformats.org/officeDocument/2006/relationships/image" Target="/ppt/media/image3.png" Id="R65764e60e6ce4732" /><Relationship Type="http://schemas.openxmlformats.org/officeDocument/2006/relationships/image" Target="/ppt/media/image4.png" Id="R9f05abca7b5044e9" /><Relationship Type="http://schemas.openxmlformats.org/officeDocument/2006/relationships/notesSlide" Target="/ppt/notesSlides/notesSlide8.xml" Id="R6434369db9f949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5f8b84c214c0b" /><Relationship Type="http://schemas.openxmlformats.org/officeDocument/2006/relationships/notesSlide" Target="/ppt/notesSlides/notesSlide9.xml" Id="Rff1817d6a23c4d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23b72c7234c9c" /><Relationship Type="http://schemas.openxmlformats.org/officeDocument/2006/relationships/notesSlide" Target="/ppt/notesSlides/notesSlide10.xml" Id="Rc7dc274c8b5f46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81A1D7D-5587-4171-90BC-9F4A0586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859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rPr>
              <a:t>科研创新赛道 · 参赛作品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2DF0752-8D2C-4552-A438-4476D29B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1104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1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rPr>
              <a:t>AI4 Science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80E8B01-114A-425F-88E1-B5CC4685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多智能体科研创新工作台</a:t>
            </a:r>
          </a:p>
        </p:txBody>
      </p:sp>
      <p:sp>
        <p:nvSpPr>
          <p:cNvPr id="4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1CF7D301-9D2B-43FF-B4F6-79C99418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rPr>
              <a:t>把跨库文献调研、知识图谱、技术成熟度评估与创新假设生成，串成一次可复核的研究任务。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315F9C46-5C9A-42A0-80FF-9FD80CEF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96050"/>
            <a:ext cx="1314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354A"/>
            </a:solidFill>
            <a:prstDash val="solid"/>
          </a:ln>
        </p:spPr>
      </p:sp>
      <p:sp>
        <p:nvSpPr>
          <p:cNvPr id="6" name="cover-event">
            <a:extLst xmlns:a="http://schemas.openxmlformats.org/drawingml/2006/main">
              <a:ext uri="{FF2B5EF4-FFF2-40B4-BE49-F238E27FC236}">
                <a16:creationId xmlns:a16="http://schemas.microsoft.com/office/drawing/2014/main" id="{9ECF6F91-9E3E-4C2E-914D-C4C1B856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8389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7C8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7C8DC"/>
                </a:solidFill>
                <a:latin typeface="Microsoft YaHei"/>
                <a:ea typeface="Microsoft YaHei"/>
                <a:cs typeface="Microsoft YaHei"/>
              </a:rPr>
              <a:t>2026 武汉 1024 · 人工智能创新应用黑客松</a:t>
            </a:r>
          </a:p>
        </p:txBody>
      </p:sp>
      <p:sp>
        <p:nvSpPr>
          <p:cNvPr id="7" name="cover-stack">
            <a:extLst xmlns:a="http://schemas.openxmlformats.org/drawingml/2006/main">
              <a:ext uri="{FF2B5EF4-FFF2-40B4-BE49-F238E27FC236}">
                <a16:creationId xmlns:a16="http://schemas.microsoft.com/office/drawing/2014/main" id="{34B456AD-10A8-46E0-ADB9-9429D22E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838950"/>
            <a:ext cx="575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rPr>
              <a:t>Python · FastAPI · NetworkX · scikit-learn · LLM</a:t>
            </a:r>
          </a:p>
        </p:txBody>
      </p:sp>
    </p:spTree>
    <p:extLst>
      <p:ext uri="{BB962C8B-B14F-4D97-AF65-F5344CB8AC3E}">
        <p14:creationId xmlns:p14="http://schemas.microsoft.com/office/powerpoint/2010/main" val="667587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2">
            <a:extLst xmlns:a="http://schemas.openxmlformats.org/drawingml/2006/main">
              <a:ext uri="{FF2B5EF4-FFF2-40B4-BE49-F238E27FC236}">
                <a16:creationId xmlns:a16="http://schemas.microsoft.com/office/drawing/2014/main" id="{611EC31A-F698-40DF-B407-2B96B894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257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科研调研的四个断点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2DB9CD23-E1BE-4C5B-B883-B3EB7FF3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E6FF"/>
            </a:solidFill>
            <a:prstDash val="solid"/>
          </a:ln>
        </p:spPr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1C9350CA-92C0-4365-8B7C-8B487534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63B1CEF7-AC74-4556-AF98-9D130D30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276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rPr>
              <a:t>从跨库检索到假设形成，当前流程依赖人工串联，重复劳动多、判断依据散。</a:t>
            </a:r>
          </a:p>
        </p:txBody>
      </p:sp>
      <p:sp>
        <p:nvSpPr>
          <p:cNvPr id="5" name="problem-num-01">
            <a:extLst xmlns:a="http://schemas.openxmlformats.org/drawingml/2006/main">
              <a:ext uri="{FF2B5EF4-FFF2-40B4-BE49-F238E27FC236}">
                <a16:creationId xmlns:a16="http://schemas.microsoft.com/office/drawing/2014/main" id="{C83CE0DF-D097-473A-A5B2-DB9E7EF4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roblem-head-01">
            <a:extLst xmlns:a="http://schemas.openxmlformats.org/drawingml/2006/main">
              <a:ext uri="{FF2B5EF4-FFF2-40B4-BE49-F238E27FC236}">
                <a16:creationId xmlns:a16="http://schemas.microsoft.com/office/drawing/2014/main" id="{2F623A4B-2F79-4DF3-9D5B-0CA618A7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文献调研</a:t>
            </a:r>
          </a:p>
        </p:txBody>
      </p:sp>
      <p:sp>
        <p:nvSpPr>
          <p:cNvPr id="7" name="problem-body-01">
            <a:extLst xmlns:a="http://schemas.openxmlformats.org/drawingml/2006/main">
              <a:ext uri="{FF2B5EF4-FFF2-40B4-BE49-F238E27FC236}">
                <a16:creationId xmlns:a16="http://schemas.microsoft.com/office/drawing/2014/main" id="{C96F41BC-5926-41D5-B0D4-116599E2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rPr>
              <a:t>跨 arXiv、PubMed、Semantic Scholar 手工检索与去重，往往耗时数天。</a:t>
            </a:r>
          </a:p>
        </p:txBody>
      </p:sp>
      <p:sp>
        <p:nvSpPr>
          <p:cNvPr id="8" name="problem-rule-01">
            <a:extLst xmlns:a="http://schemas.openxmlformats.org/drawingml/2006/main">
              <a:ext uri="{FF2B5EF4-FFF2-40B4-BE49-F238E27FC236}">
                <a16:creationId xmlns:a16="http://schemas.microsoft.com/office/drawing/2014/main" id="{DB011CC4-D3F0-4BD5-B6F8-A3B0172A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D"/>
            </a:solidFill>
            <a:prstDash val="solid"/>
          </a:ln>
        </p:spPr>
      </p:sp>
      <p:sp>
        <p:nvSpPr>
          <p:cNvPr id="9" name="problem-num-02">
            <a:extLst xmlns:a="http://schemas.openxmlformats.org/drawingml/2006/main">
              <a:ext uri="{FF2B5EF4-FFF2-40B4-BE49-F238E27FC236}">
                <a16:creationId xmlns:a16="http://schemas.microsoft.com/office/drawing/2014/main" id="{FAD6CA77-5A92-4C3D-AF83-EB5DB908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problem-head-02">
            <a:extLst xmlns:a="http://schemas.openxmlformats.org/drawingml/2006/main">
              <a:ext uri="{FF2B5EF4-FFF2-40B4-BE49-F238E27FC236}">
                <a16:creationId xmlns:a16="http://schemas.microsoft.com/office/drawing/2014/main" id="{F5529822-1DE1-4BDD-AA3F-7F09FD4E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338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脉络梳理</a:t>
            </a:r>
          </a:p>
        </p:txBody>
      </p:sp>
      <p:sp>
        <p:nvSpPr>
          <p:cNvPr id="11" name="problem-body-02">
            <a:extLst xmlns:a="http://schemas.openxmlformats.org/drawingml/2006/main">
              <a:ext uri="{FF2B5EF4-FFF2-40B4-BE49-F238E27FC236}">
                <a16:creationId xmlns:a16="http://schemas.microsoft.com/office/drawing/2014/main" id="{0BFC704C-BEC5-4516-BB4D-46D0DB15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528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rPr>
              <a:t>引用关系、研究社区与演进路径分散在表格和笔记里，难以快速看清。</a:t>
            </a:r>
          </a:p>
        </p:txBody>
      </p:sp>
      <p:sp>
        <p:nvSpPr>
          <p:cNvPr id="12" name="problem-rule-02">
            <a:extLst xmlns:a="http://schemas.openxmlformats.org/drawingml/2006/main">
              <a:ext uri="{FF2B5EF4-FFF2-40B4-BE49-F238E27FC236}">
                <a16:creationId xmlns:a16="http://schemas.microsoft.com/office/drawing/2014/main" id="{9362647C-AA89-4082-BEAC-5B65AE05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D"/>
            </a:solidFill>
            <a:prstDash val="solid"/>
          </a:ln>
        </p:spPr>
      </p:sp>
      <p:sp>
        <p:nvSpPr>
          <p:cNvPr id="13" name="problem-num-03">
            <a:extLst xmlns:a="http://schemas.openxmlformats.org/drawingml/2006/main">
              <a:ext uri="{FF2B5EF4-FFF2-40B4-BE49-F238E27FC236}">
                <a16:creationId xmlns:a16="http://schemas.microsoft.com/office/drawing/2014/main" id="{C32574F1-D751-4B16-97FE-87A5178D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problem-head-03">
            <a:extLst xmlns:a="http://schemas.openxmlformats.org/drawingml/2006/main">
              <a:ext uri="{FF2B5EF4-FFF2-40B4-BE49-F238E27FC236}">
                <a16:creationId xmlns:a16="http://schemas.microsoft.com/office/drawing/2014/main" id="{5859DCE2-B110-41CB-AD19-FE60791F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863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成熟度判断</a:t>
            </a:r>
          </a:p>
        </p:txBody>
      </p:sp>
      <p:sp>
        <p:nvSpPr>
          <p:cNvPr id="15" name="problem-body-03">
            <a:extLst xmlns:a="http://schemas.openxmlformats.org/drawingml/2006/main">
              <a:ext uri="{FF2B5EF4-FFF2-40B4-BE49-F238E27FC236}">
                <a16:creationId xmlns:a16="http://schemas.microsoft.com/office/drawing/2014/main" id="{18A99594-1055-4D26-B0FE-4F95A9A2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rPr>
              <a:t>技术路线处于 TRL 几级缺少量化依据，可行性判断依赖个人经验。</a:t>
            </a:r>
          </a:p>
        </p:txBody>
      </p:sp>
      <p:sp>
        <p:nvSpPr>
          <p:cNvPr id="16" name="problem-rule-03">
            <a:extLst xmlns:a="http://schemas.openxmlformats.org/drawingml/2006/main">
              <a:ext uri="{FF2B5EF4-FFF2-40B4-BE49-F238E27FC236}">
                <a16:creationId xmlns:a16="http://schemas.microsoft.com/office/drawing/2014/main" id="{9039470D-A4FA-402E-948C-B6AA94CC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D"/>
            </a:solidFill>
            <a:prstDash val="solid"/>
          </a:ln>
        </p:spPr>
      </p:sp>
      <p:sp>
        <p:nvSpPr>
          <p:cNvPr id="17" name="problem-num-04">
            <a:extLst xmlns:a="http://schemas.openxmlformats.org/drawingml/2006/main">
              <a:ext uri="{FF2B5EF4-FFF2-40B4-BE49-F238E27FC236}">
                <a16:creationId xmlns:a16="http://schemas.microsoft.com/office/drawing/2014/main" id="{8966AD48-7669-4182-A270-E236F64C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38900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problem-head-04">
            <a:extLst xmlns:a="http://schemas.openxmlformats.org/drawingml/2006/main">
              <a:ext uri="{FF2B5EF4-FFF2-40B4-BE49-F238E27FC236}">
                <a16:creationId xmlns:a16="http://schemas.microsoft.com/office/drawing/2014/main" id="{B4D85D96-A85A-4C11-88DF-3306F743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38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假设形成</a:t>
            </a:r>
          </a:p>
        </p:txBody>
      </p:sp>
      <p:sp>
        <p:nvSpPr>
          <p:cNvPr id="19" name="problem-body-04">
            <a:extLst xmlns:a="http://schemas.openxmlformats.org/drawingml/2006/main">
              <a:ext uri="{FF2B5EF4-FFF2-40B4-BE49-F238E27FC236}">
                <a16:creationId xmlns:a16="http://schemas.microsoft.com/office/drawing/2014/main" id="{A572D906-C34D-4DE0-ADF2-895D1656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579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rPr>
              <a:t>研究空白与跨域迁移机会难以系统枚举，结论可复现性低。</a:t>
            </a:r>
          </a:p>
        </p:txBody>
      </p:sp>
      <p:sp>
        <p:nvSpPr>
          <p:cNvPr id="20" name="problem-rule-04">
            <a:extLst xmlns:a="http://schemas.openxmlformats.org/drawingml/2006/main">
              <a:ext uri="{FF2B5EF4-FFF2-40B4-BE49-F238E27FC236}">
                <a16:creationId xmlns:a16="http://schemas.microsoft.com/office/drawing/2014/main" id="{507E4AF3-C640-439F-AAFD-E368840F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723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4311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281589F3-0E38-4F93-A218-46BF2FB4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257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从问题到报告的研究流水线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97367CCF-5341-473E-B1C4-F08512CE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E6FF"/>
            </a:solidFill>
            <a:prstDash val="solid"/>
          </a:ln>
        </p:spPr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21034106-0F13-4EEA-A225-0C60A33E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pipeline-lead">
            <a:extLst xmlns:a="http://schemas.openxmlformats.org/drawingml/2006/main">
              <a:ext uri="{FF2B5EF4-FFF2-40B4-BE49-F238E27FC236}">
                <a16:creationId xmlns:a16="http://schemas.microsoft.com/office/drawing/2014/main" id="{38B4B38D-D1FF-4156-91F4-5036E170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rPr>
              <a:t>协调智能体按七阶段调度，每个阶段都有明确输入、执行角色与可检查产物。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14400" y="2228850"/>
          <a:ext xmlns:a="http://schemas.openxmlformats.org/drawingml/2006/main" cx="13411200" cy="548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952750"/>
                <a:gridCol w="7029450"/>
              </a:tblGrid>
              <a:tr h="51435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75" b="1">
                          <a:solidFill>
                            <a:srgbClr val="35E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0B2236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75" b="1">
                          <a:solidFill>
                            <a:srgbClr val="35E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执行角色</a:t>
                      </a:r>
                    </a:p>
                  </a:txBody>
                  <a:tcPr marL="91440" marR="91440" marT="45720" marB="45720" anchor="ctr">
                    <a:solidFill>
                      <a:srgbClr val="0B2236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75" b="1">
                          <a:solidFill>
                            <a:srgbClr val="35E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</a:t>
                      </a:r>
                    </a:p>
                  </a:txBody>
                  <a:tcPr marL="91440" marR="91440" marT="45720" marB="45720" anchor="ctr">
                    <a:solidFill>
                      <a:srgbClr val="0B2236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解析研究问题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协调智能体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关键词、研究领域、任务参数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多源检索与去重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搜索智能体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文献清单、来源统计、缓存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质量与趋势分析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分析智能体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质量评分、关键词、年度趋势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构建知识图谱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关联智能体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引用/相似度图、社区、关键节点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评估 TRL 与可行性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评估智能体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成熟度等级、置信度、风险与资源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 生成假设与反事实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生成智能体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创新假设、场景推演、跨域迁移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07 输出研究报告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报告模块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Markdown 正文与 HTML 预览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575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A7D50A2B-FB7B-4C30-AA15-A2FE8AD6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257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核心功能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9EC241E8-050B-415D-BF7B-DBBE97F6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E6FF"/>
            </a:solidFill>
            <a:prstDash val="solid"/>
          </a:ln>
        </p:spPr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3253E468-D43F-4CD5-B036-53555A9B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features-lead">
            <a:extLst xmlns:a="http://schemas.openxmlformats.org/drawingml/2006/main">
              <a:ext uri="{FF2B5EF4-FFF2-40B4-BE49-F238E27FC236}">
                <a16:creationId xmlns:a16="http://schemas.microsoft.com/office/drawing/2014/main" id="{1A839926-C6F5-4525-954A-F9A66D11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rPr>
              <a:t>五类能力共用同一份文献与分析结果，避免在多个工具之间反复搬运数据。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14400" y="2266950"/>
          <a:ext xmlns:a="http://schemas.openxmlformats.org/drawingml/2006/main" cx="13411200" cy="5391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7791450"/>
                <a:gridCol w="3429000"/>
              </a:tblGrid>
              <a:tr h="51435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75" b="1">
                          <a:solidFill>
                            <a:srgbClr val="35E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</a:t>
                      </a:r>
                    </a:p>
                  </a:txBody>
                  <a:tcPr marL="91440" marR="91440" marT="45720" marB="45720" anchor="ctr">
                    <a:solidFill>
                      <a:srgbClr val="0B2236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75" b="1">
                          <a:solidFill>
                            <a:srgbClr val="35E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具体能力</a:t>
                      </a:r>
                    </a:p>
                  </a:txBody>
                  <a:tcPr marL="91440" marR="91440" marT="45720" marB="45720" anchor="ctr">
                    <a:solidFill>
                      <a:srgbClr val="0B2236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75" b="1">
                          <a:solidFill>
                            <a:srgbClr val="35E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交付形态</a:t>
                      </a:r>
                    </a:p>
                  </a:txBody>
                  <a:tcPr marL="91440" marR="91440" marT="45720" marB="45720" anchor="ctr">
                    <a:solidFill>
                      <a:srgbClr val="0B2236"/>
                    </a:solidFill>
                  </a:tcPr>
                </a:tc>
              </a:tr>
              <a:tr h="80010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文献分析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三源并行检索、标题相似度去重、多维质量评分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可筛选文献表与 CSV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</a:tr>
              <a:tr h="80010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知识管理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引用与相似度图谱、Louvain 社区、中心性分析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可拖拽的知识图谱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</a:tr>
              <a:tr h="80010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数据处理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年度分布、作者分布、TF-IDF 关键词、质量散点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四类自动图表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</a:tr>
              <a:tr h="80010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实验辅助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TRL 1–9、可行性、风险、资源与时间线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成熟度仪表与建议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</a:tr>
              <a:tr h="80010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创新生成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研究假设、反事实场景、跨域方法迁移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假设卡与场景表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</a:tr>
              <a:tr h="80010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报告输出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报告模板渲染、HTML 预览、Markdown 下载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完整研究简报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0689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5">
            <a:extLst xmlns:a="http://schemas.openxmlformats.org/drawingml/2006/main">
              <a:ext uri="{FF2B5EF4-FFF2-40B4-BE49-F238E27FC236}">
                <a16:creationId xmlns:a16="http://schemas.microsoft.com/office/drawing/2014/main" id="{52706F97-0B44-45CC-8639-AD87D762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257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技术架构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F23918CD-74DC-4981-BE51-6E12990F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E6FF"/>
            </a:solidFill>
            <a:prstDash val="solid"/>
          </a:ln>
        </p:spPr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C9CEA151-CDCC-4332-B9F4-6DD42D68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arch-lead">
            <a:extLst xmlns:a="http://schemas.openxmlformats.org/drawingml/2006/main">
              <a:ext uri="{FF2B5EF4-FFF2-40B4-BE49-F238E27FC236}">
                <a16:creationId xmlns:a16="http://schemas.microsoft.com/office/drawing/2014/main" id="{254E8BC5-B70E-4E58-987A-0CC0F871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276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rPr>
              <a:t>单进程即可部署：FastAPI 同时托管 API 与原生 SPA，减少现场演示的依赖。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914400" y="2266950"/>
          <a:ext xmlns:a="http://schemas.openxmlformats.org/drawingml/2006/main" cx="13411200" cy="4629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705475"/>
                <a:gridCol w="5705475"/>
              </a:tblGrid>
              <a:tr h="51435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75" b="1">
                          <a:solidFill>
                            <a:srgbClr val="35E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marL="91440" marR="91440" marT="45720" marB="45720" anchor="ctr">
                    <a:solidFill>
                      <a:srgbClr val="0B2236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75" b="1">
                          <a:solidFill>
                            <a:srgbClr val="35E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91440" marR="91440" marT="45720" marB="45720" anchor="ctr">
                    <a:solidFill>
                      <a:srgbClr val="0B2236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75" b="1">
                          <a:solidFill>
                            <a:srgbClr val="35E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91440" marR="91440" marT="45720" marB="45720" anchor="ctr">
                    <a:solidFill>
                      <a:srgbClr val="0B2236"/>
                    </a:solidFill>
                  </a:tcPr>
                </a:tc>
              </a:tr>
              <a:tr h="81915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交互层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 SPA、Canvas 力导向图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任务提交、结果浏览、图谱交互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</a:tr>
              <a:tr h="81915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服务层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FastAPI、REST、同源静态托管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API、页面、API Key 鉴权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</a:tr>
              <a:tr h="81915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协调层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五类智能体、asyncio 异步流水线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阶段调度、进度回传、错误隔离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</a:tr>
              <a:tr h="81915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算法层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NetworkX、scikit-learn、TF-IDF、LLM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图谱、评分、趋势与假设生成</a:t>
                      </a:r>
                    </a:p>
                  </a:txBody>
                  <a:tcPr marL="91440" marR="91440" marT="45720" marB="45720" anchor="ctr">
                    <a:solidFill>
                      <a:srgbClr val="081725"/>
                    </a:solidFill>
                  </a:tcPr>
                </a:tc>
              </a:tr>
              <a:tr h="819150"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1">
                          <a:solidFill>
                            <a:srgbClr val="F4F8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数据层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arXiv / PubMed / Semantic Scholar、SQLite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350" b="0">
                          <a:solidFill>
                            <a:srgbClr val="D7E4F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检索、去重、缓存与任务记录</a:t>
                      </a:r>
                    </a:p>
                  </a:txBody>
                  <a:tcPr marL="91440" marR="91440" marT="45720" marB="45720" anchor="ctr">
                    <a:solidFill>
                      <a:srgbClr val="071421"/>
                    </a:solidFill>
                  </a:tcPr>
                </a:tc>
              </a:tr>
            </a:tbl>
          </a:graphicData>
        </a:graphic>
      </p:graphicFrame>
      <p:sp>
        <p:nvSpPr>
          <p:cNvPr id="6" name="arch-note">
            <a:extLst xmlns:a="http://schemas.openxmlformats.org/drawingml/2006/main">
              <a:ext uri="{FF2B5EF4-FFF2-40B4-BE49-F238E27FC236}">
                <a16:creationId xmlns:a16="http://schemas.microsoft.com/office/drawing/2014/main" id="{EC9C0E93-6CE8-433B-B328-3D82007C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34250"/>
            <a:ext cx="1341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B7C8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7C8DC"/>
                </a:solidFill>
                <a:latin typeface="Microsoft YaHei"/>
                <a:ea typeface="Microsoft YaHei"/>
                <a:cs typeface="Microsoft YaHei"/>
              </a:rPr>
              <a:t>未配置 API Key 时自动进入 mock 模式，检索、图谱、报告仍可完整运行；配置模型后生成领域化假设。</a:t>
            </a:r>
          </a:p>
        </p:txBody>
      </p:sp>
    </p:spTree>
    <p:extLst>
      <p:ext uri="{BB962C8B-B14F-4D97-AF65-F5344CB8AC3E}">
        <p14:creationId xmlns:p14="http://schemas.microsoft.com/office/powerpoint/2010/main" val="6542752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6">
            <a:extLst xmlns:a="http://schemas.openxmlformats.org/drawingml/2006/main">
              <a:ext uri="{FF2B5EF4-FFF2-40B4-BE49-F238E27FC236}">
                <a16:creationId xmlns:a16="http://schemas.microsoft.com/office/drawing/2014/main" id="{59ACFF77-2BA1-4013-BF44-CA115D21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33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任务指挥舱：一次提交，进入异步流水线</a:t>
            </a:r>
          </a:p>
        </p:txBody>
      </p:sp>
      <p:sp>
        <p:nvSpPr>
          <p:cNvPr id="2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82112A11-5733-4964-99A6-B109E22B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E6FF"/>
            </a:solidFill>
            <a:prstDash val="solid"/>
          </a:ln>
        </p:spPr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6A79CB4E-6B93-480E-9118-6533C890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441cf0bb84d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847850"/>
            <a:ext cx="9144000" cy="5715000"/>
          </a:xfrm>
          <a:prstGeom xmlns:a="http://schemas.openxmlformats.org/drawingml/2006/main" prst="roundRect">
            <a:avLst>
              <a:gd name="adj" fmla="val 2333"/>
            </a:avLst>
          </a:prstGeom>
        </p:spPr>
      </p:pic>
      <p:sp>
        <p:nvSpPr>
          <p:cNvPr id="5" name="cockpit-num-01">
            <a:extLst xmlns:a="http://schemas.openxmlformats.org/drawingml/2006/main">
              <a:ext uri="{FF2B5EF4-FFF2-40B4-BE49-F238E27FC236}">
                <a16:creationId xmlns:a16="http://schemas.microsoft.com/office/drawing/2014/main" id="{1F8D4173-9710-48F6-B58F-37F20A64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383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cockpit-head-01">
            <a:extLst xmlns:a="http://schemas.openxmlformats.org/drawingml/2006/main">
              <a:ext uri="{FF2B5EF4-FFF2-40B4-BE49-F238E27FC236}">
                <a16:creationId xmlns:a16="http://schemas.microsoft.com/office/drawing/2014/main" id="{43FE6784-715E-46DE-B25E-00F88525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193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输入研究问题</a:t>
            </a:r>
          </a:p>
        </p:txBody>
      </p:sp>
      <p:sp>
        <p:nvSpPr>
          <p:cNvPr id="7" name="cockpit-body-01">
            <a:extLst xmlns:a="http://schemas.openxmlformats.org/drawingml/2006/main">
              <a:ext uri="{FF2B5EF4-FFF2-40B4-BE49-F238E27FC236}">
                <a16:creationId xmlns:a16="http://schemas.microsoft.com/office/drawing/2014/main" id="{6612DADB-3E05-4E9B-9DA3-8FE609A5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95550"/>
            <a:ext cx="381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rPr>
              <a:t>支持中文长句；系统抽取主题与关键词，再翻译为英文检索。</a:t>
            </a:r>
          </a:p>
        </p:txBody>
      </p:sp>
      <p:sp>
        <p:nvSpPr>
          <p:cNvPr id="8" name="cockpit-num-02">
            <a:extLst xmlns:a="http://schemas.openxmlformats.org/drawingml/2006/main">
              <a:ext uri="{FF2B5EF4-FFF2-40B4-BE49-F238E27FC236}">
                <a16:creationId xmlns:a16="http://schemas.microsoft.com/office/drawing/2014/main" id="{B3185E01-5C6D-4E69-ACBA-2166A1B2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338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cockpit-head-02">
            <a:extLst xmlns:a="http://schemas.openxmlformats.org/drawingml/2006/main">
              <a:ext uri="{FF2B5EF4-FFF2-40B4-BE49-F238E27FC236}">
                <a16:creationId xmlns:a16="http://schemas.microsoft.com/office/drawing/2014/main" id="{C9833973-49FB-493F-AE99-2DDB346A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14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选择任务参数</a:t>
            </a:r>
          </a:p>
        </p:txBody>
      </p:sp>
      <p:sp>
        <p:nvSpPr>
          <p:cNvPr id="10" name="cockpit-body-02">
            <a:extLst xmlns:a="http://schemas.openxmlformats.org/drawingml/2006/main">
              <a:ext uri="{FF2B5EF4-FFF2-40B4-BE49-F238E27FC236}">
                <a16:creationId xmlns:a16="http://schemas.microsoft.com/office/drawing/2014/main" id="{9941CE40-233F-4774-AD7C-980017C6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91000"/>
            <a:ext cx="381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rPr>
              <a:t>可切换分析深度、优先级、专利分析、创新假设与 TRL 评估。</a:t>
            </a:r>
          </a:p>
        </p:txBody>
      </p:sp>
      <p:sp>
        <p:nvSpPr>
          <p:cNvPr id="11" name="cockpit-num-03">
            <a:extLst xmlns:a="http://schemas.openxmlformats.org/drawingml/2006/main">
              <a:ext uri="{FF2B5EF4-FFF2-40B4-BE49-F238E27FC236}">
                <a16:creationId xmlns:a16="http://schemas.microsoft.com/office/drawing/2014/main" id="{76040C69-A22E-4CC5-8F8C-3C62856F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292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cockpit-head-03">
            <a:extLst xmlns:a="http://schemas.openxmlformats.org/drawingml/2006/main">
              <a:ext uri="{FF2B5EF4-FFF2-40B4-BE49-F238E27FC236}">
                <a16:creationId xmlns:a16="http://schemas.microsoft.com/office/drawing/2014/main" id="{18CFE46C-3080-4997-B76C-029A822E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4102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启动研究任务</a:t>
            </a:r>
          </a:p>
        </p:txBody>
      </p:sp>
      <p:sp>
        <p:nvSpPr>
          <p:cNvPr id="13" name="cockpit-body-03">
            <a:extLst xmlns:a="http://schemas.openxmlformats.org/drawingml/2006/main">
              <a:ext uri="{FF2B5EF4-FFF2-40B4-BE49-F238E27FC236}">
                <a16:creationId xmlns:a16="http://schemas.microsoft.com/office/drawing/2014/main" id="{E63E7681-43B9-4895-A50C-90A1AB09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886450"/>
            <a:ext cx="381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rPr>
              <a:t>七阶段异步执行，任务中心实时回传进度与状态。</a:t>
            </a:r>
          </a:p>
        </p:txBody>
      </p:sp>
      <p:sp>
        <p:nvSpPr>
          <p:cNvPr id="14" name="cockpit-footnote">
            <a:extLst xmlns:a="http://schemas.openxmlformats.org/drawingml/2006/main">
              <a:ext uri="{FF2B5EF4-FFF2-40B4-BE49-F238E27FC236}">
                <a16:creationId xmlns:a16="http://schemas.microsoft.com/office/drawing/2014/main" id="{914BCBDD-705F-43A0-A3DD-C7F48A89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96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rPr>
              <a:t>截图来自本地运行实例 http://localhost:8501</a:t>
            </a:r>
          </a:p>
        </p:txBody>
      </p:sp>
    </p:spTree>
    <p:extLst>
      <p:ext uri="{BB962C8B-B14F-4D97-AF65-F5344CB8AC3E}">
        <p14:creationId xmlns:p14="http://schemas.microsoft.com/office/powerpoint/2010/main" val="261031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7">
            <a:extLst xmlns:a="http://schemas.openxmlformats.org/drawingml/2006/main">
              <a:ext uri="{FF2B5EF4-FFF2-40B4-BE49-F238E27FC236}">
                <a16:creationId xmlns:a16="http://schemas.microsoft.com/office/drawing/2014/main" id="{C0431AFB-E183-456F-B33C-4E00711A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33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结果工作台：证据、图谱与判断在同一页</a:t>
            </a:r>
          </a:p>
        </p:txBody>
      </p:sp>
      <p:sp>
        <p:nvSpPr>
          <p:cNvPr id="2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FCFF3584-9D14-4010-97B8-8AE8CCBB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E6FF"/>
            </a:solidFill>
            <a:prstDash val="solid"/>
          </a:ln>
        </p:spPr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B00E9718-8205-4CAB-AB20-EC661F73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70ed0e76f45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866900"/>
            <a:ext cx="9144000" cy="3543300"/>
          </a:xfrm>
          <a:prstGeom xmlns:a="http://schemas.openxmlformats.org/drawingml/2006/main" prst="roundRect">
            <a:avLst>
              <a:gd name="adj" fmla="val 3763"/>
            </a:avLst>
          </a:prstGeom>
        </p:spPr>
      </p:pic>
      <p:sp>
        <p:nvSpPr>
          <p:cNvPr id="5" name="wb-metric-1">
            <a:extLst xmlns:a="http://schemas.openxmlformats.org/drawingml/2006/main">
              <a:ext uri="{FF2B5EF4-FFF2-40B4-BE49-F238E27FC236}">
                <a16:creationId xmlns:a16="http://schemas.microsoft.com/office/drawing/2014/main" id="{34EF3F76-5B5C-409A-8EF9-86F6FB59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wb-label-1">
            <a:extLst xmlns:a="http://schemas.openxmlformats.org/drawingml/2006/main">
              <a:ext uri="{FF2B5EF4-FFF2-40B4-BE49-F238E27FC236}">
                <a16:creationId xmlns:a16="http://schemas.microsoft.com/office/drawing/2014/main" id="{B4A985D5-71F9-4964-BF28-9BD084D0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rPr>
              <a:t>篇演示文献</a:t>
            </a:r>
          </a:p>
        </p:txBody>
      </p:sp>
      <p:sp>
        <p:nvSpPr>
          <p:cNvPr id="7" name="wb-metric-2">
            <a:extLst xmlns:a="http://schemas.openxmlformats.org/drawingml/2006/main">
              <a:ext uri="{FF2B5EF4-FFF2-40B4-BE49-F238E27FC236}">
                <a16:creationId xmlns:a16="http://schemas.microsoft.com/office/drawing/2014/main" id="{6C4BF939-78F3-429D-AC69-0BFC4FF2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7721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sp>
        <p:nvSpPr>
          <p:cNvPr id="8" name="wb-label-2">
            <a:extLst xmlns:a="http://schemas.openxmlformats.org/drawingml/2006/main">
              <a:ext uri="{FF2B5EF4-FFF2-40B4-BE49-F238E27FC236}">
                <a16:creationId xmlns:a16="http://schemas.microsoft.com/office/drawing/2014/main" id="{CC4B6747-F62A-4160-A6D0-7C749F39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86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rPr>
              <a:t>图谱节点 / 边</a:t>
            </a:r>
          </a:p>
        </p:txBody>
      </p:sp>
      <p:sp>
        <p:nvSpPr>
          <p:cNvPr id="9" name="wb-metric-3">
            <a:extLst xmlns:a="http://schemas.openxmlformats.org/drawingml/2006/main">
              <a:ext uri="{FF2B5EF4-FFF2-40B4-BE49-F238E27FC236}">
                <a16:creationId xmlns:a16="http://schemas.microsoft.com/office/drawing/2014/main" id="{9EBD493A-AB96-435E-AC55-B57B64AC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7721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A0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A06BFF"/>
                </a:solidFill>
                <a:latin typeface="Microsoft YaHei"/>
                <a:ea typeface="Microsoft YaHei"/>
                <a:cs typeface="Microsoft YaHei"/>
              </a:rPr>
              <a:t>TRL 4</a:t>
            </a:r>
          </a:p>
        </p:txBody>
      </p:sp>
      <p:sp>
        <p:nvSpPr>
          <p:cNvPr id="10" name="wb-label-3">
            <a:extLst xmlns:a="http://schemas.openxmlformats.org/drawingml/2006/main">
              <a:ext uri="{FF2B5EF4-FFF2-40B4-BE49-F238E27FC236}">
                <a16:creationId xmlns:a16="http://schemas.microsoft.com/office/drawing/2014/main" id="{70DBCD22-2959-474F-902E-53C5F289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286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rPr>
              <a:t>实验室验证</a:t>
            </a:r>
          </a:p>
        </p:txBody>
      </p:sp>
      <p:sp>
        <p:nvSpPr>
          <p:cNvPr id="11" name="wb-metric-4">
            <a:extLst xmlns:a="http://schemas.openxmlformats.org/drawingml/2006/main">
              <a:ext uri="{FF2B5EF4-FFF2-40B4-BE49-F238E27FC236}">
                <a16:creationId xmlns:a16="http://schemas.microsoft.com/office/drawing/2014/main" id="{22700D3F-329A-4CE8-B8C6-FB9D503E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7721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38F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8F0A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2" name="wb-label-4">
            <a:extLst xmlns:a="http://schemas.openxmlformats.org/drawingml/2006/main">
              <a:ext uri="{FF2B5EF4-FFF2-40B4-BE49-F238E27FC236}">
                <a16:creationId xmlns:a16="http://schemas.microsoft.com/office/drawing/2014/main" id="{6F59FB1B-4866-44D3-A1E7-DE8EFC66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286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rPr>
              <a:t>条创新建议</a:t>
            </a:r>
          </a:p>
        </p:txBody>
      </p:sp>
      <p:sp>
        <p:nvSpPr>
          <p:cNvPr id="13" name="wb-head-研究报告">
            <a:extLst xmlns:a="http://schemas.openxmlformats.org/drawingml/2006/main">
              <a:ext uri="{FF2B5EF4-FFF2-40B4-BE49-F238E27FC236}">
                <a16:creationId xmlns:a16="http://schemas.microsoft.com/office/drawing/2014/main" id="{655303B3-ECCC-42D0-B399-C72E86AE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研究报告</a:t>
            </a:r>
          </a:p>
        </p:txBody>
      </p:sp>
      <p:sp>
        <p:nvSpPr>
          <p:cNvPr id="14" name="wb-body-研究报告">
            <a:extLst xmlns:a="http://schemas.openxmlformats.org/drawingml/2006/main">
              <a:ext uri="{FF2B5EF4-FFF2-40B4-BE49-F238E27FC236}">
                <a16:creationId xmlns:a16="http://schemas.microsoft.com/office/drawing/2014/main" id="{E4B79A94-2B69-4431-8762-AE50CABD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146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rPr>
              <a:t>正文直接内嵌，支持 Markdown 下载与 HTML 预览。</a:t>
            </a:r>
          </a:p>
        </p:txBody>
      </p:sp>
      <p:sp>
        <p:nvSpPr>
          <p:cNvPr id="15" name="wb-head-关键指标">
            <a:extLst xmlns:a="http://schemas.openxmlformats.org/drawingml/2006/main">
              <a:ext uri="{FF2B5EF4-FFF2-40B4-BE49-F238E27FC236}">
                <a16:creationId xmlns:a16="http://schemas.microsoft.com/office/drawing/2014/main" id="{9858E6A4-20E7-451B-A296-C8136DCB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623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16" name="wb-body-关键指标">
            <a:extLst xmlns:a="http://schemas.openxmlformats.org/drawingml/2006/main">
              <a:ext uri="{FF2B5EF4-FFF2-40B4-BE49-F238E27FC236}">
                <a16:creationId xmlns:a16="http://schemas.microsoft.com/office/drawing/2014/main" id="{3F5A1BC2-C77B-43CD-9759-FB1D5CCD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9814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rPr>
              <a:t>文献数、图谱规模、TRL 与创新建议集中在首屏。</a:t>
            </a:r>
          </a:p>
        </p:txBody>
      </p:sp>
      <p:sp>
        <p:nvSpPr>
          <p:cNvPr id="17" name="wb-head-证据链">
            <a:extLst xmlns:a="http://schemas.openxmlformats.org/drawingml/2006/main">
              <a:ext uri="{FF2B5EF4-FFF2-40B4-BE49-F238E27FC236}">
                <a16:creationId xmlns:a16="http://schemas.microsoft.com/office/drawing/2014/main" id="{1B995AAC-A3AA-4BF0-A829-70B2EDA2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0292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</p:txBody>
      </p:sp>
      <p:sp>
        <p:nvSpPr>
          <p:cNvPr id="18" name="wb-body-证据链">
            <a:extLst xmlns:a="http://schemas.openxmlformats.org/drawingml/2006/main">
              <a:ext uri="{FF2B5EF4-FFF2-40B4-BE49-F238E27FC236}">
                <a16:creationId xmlns:a16="http://schemas.microsoft.com/office/drawing/2014/main" id="{F746AF6C-DF37-4558-AA01-5152AC25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483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rPr>
              <a:t>在同一任务内继续查看图谱、图表、文献表与假设。</a:t>
            </a:r>
          </a:p>
        </p:txBody>
      </p:sp>
      <p:sp>
        <p:nvSpPr>
          <p:cNvPr id="19" name="wb-note">
            <a:extLst xmlns:a="http://schemas.openxmlformats.org/drawingml/2006/main">
              <a:ext uri="{FF2B5EF4-FFF2-40B4-BE49-F238E27FC236}">
                <a16:creationId xmlns:a16="http://schemas.microsoft.com/office/drawing/2014/main" id="{7C1A2382-9F9E-4FF1-B23C-0050CC15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8199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rPr>
              <a:t>本页为内置离线演示数据，用于无网络时完整展示界面。</a:t>
            </a:r>
          </a:p>
        </p:txBody>
      </p:sp>
    </p:spTree>
    <p:extLst>
      <p:ext uri="{BB962C8B-B14F-4D97-AF65-F5344CB8AC3E}">
        <p14:creationId xmlns:p14="http://schemas.microsoft.com/office/powerpoint/2010/main" val="15367088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8">
            <a:extLst xmlns:a="http://schemas.openxmlformats.org/drawingml/2006/main">
              <a:ext uri="{FF2B5EF4-FFF2-40B4-BE49-F238E27FC236}">
                <a16:creationId xmlns:a16="http://schemas.microsoft.com/office/drawing/2014/main" id="{4D5E5C69-D142-4BE4-8555-8371B7E2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257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知识图谱与数据分析</a:t>
            </a:r>
          </a:p>
        </p:txBody>
      </p:sp>
      <p:sp>
        <p:nvSpPr>
          <p:cNvPr id="2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4B9FA46C-ADD5-47A7-9D6D-8E16FA8B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E6FF"/>
            </a:solidFill>
            <a:prstDash val="solid"/>
          </a:ln>
        </p:spPr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E54D8D73-B551-43AA-BA48-FA6A666B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64e60e6ce4732"/>
          <a:srcRect xmlns:a="http://schemas.openxmlformats.org/drawingml/2006/main" l="51" t="0" r="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6953250" cy="29146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5abca7b5044e9"/>
          <a:srcRect xmlns:a="http://schemas.openxmlformats.org/drawingml/2006/main" l="8" t="0" r="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8600" y="1809750"/>
            <a:ext cx="6781800" cy="3009900"/>
          </a:xfrm>
          <a:prstGeom xmlns:a="http://schemas.openxmlformats.org/drawingml/2006/main" prst="roundRect">
            <a:avLst>
              <a:gd name="adj" fmla="val 3797"/>
            </a:avLst>
          </a:prstGeom>
        </p:spPr>
      </p:pic>
      <p:sp>
        <p:nvSpPr>
          <p:cNvPr id="6" name="graph-caption">
            <a:extLst xmlns:a="http://schemas.openxmlformats.org/drawingml/2006/main">
              <a:ext uri="{FF2B5EF4-FFF2-40B4-BE49-F238E27FC236}">
                <a16:creationId xmlns:a16="http://schemas.microsoft.com/office/drawing/2014/main" id="{96ABB3F4-0EE7-4D71-9107-A96EEE75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rPr>
              <a:t>知识图谱 · 12 节点 / 18 边 / 3 个研究社区</a:t>
            </a:r>
          </a:p>
        </p:txBody>
      </p:sp>
      <p:sp>
        <p:nvSpPr>
          <p:cNvPr id="7" name="graph-note">
            <a:extLst xmlns:a="http://schemas.openxmlformats.org/drawingml/2006/main">
              <a:ext uri="{FF2B5EF4-FFF2-40B4-BE49-F238E27FC236}">
                <a16:creationId xmlns:a16="http://schemas.microsoft.com/office/drawing/2014/main" id="{8A811106-6143-4A03-AD28-B8C8382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rPr>
              <a:t>支持拖拽、缩放、聚类/年份/质量着色与节点详情。</a:t>
            </a:r>
          </a:p>
        </p:txBody>
      </p:sp>
      <p:sp>
        <p:nvSpPr>
          <p:cNvPr id="8" name="charts-caption">
            <a:extLst xmlns:a="http://schemas.openxmlformats.org/drawingml/2006/main">
              <a:ext uri="{FF2B5EF4-FFF2-40B4-BE49-F238E27FC236}">
                <a16:creationId xmlns:a16="http://schemas.microsoft.com/office/drawing/2014/main" id="{B9736617-6B18-466D-8FFA-228B4822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678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A0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06BFF"/>
                </a:solidFill>
                <a:latin typeface="Microsoft YaHei"/>
                <a:ea typeface="Microsoft YaHei"/>
                <a:cs typeface="Microsoft YaHei"/>
              </a:rPr>
              <a:t>数据分析 · 来源、年度、关键词与质量分布</a:t>
            </a:r>
          </a:p>
        </p:txBody>
      </p:sp>
      <p:sp>
        <p:nvSpPr>
          <p:cNvPr id="9" name="charts-note">
            <a:extLst xmlns:a="http://schemas.openxmlformats.org/drawingml/2006/main">
              <a:ext uri="{FF2B5EF4-FFF2-40B4-BE49-F238E27FC236}">
                <a16:creationId xmlns:a16="http://schemas.microsoft.com/office/drawing/2014/main" id="{EBE8D3F7-60DF-4B86-A476-3EA7C434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67350"/>
            <a:ext cx="678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ADD"/>
                </a:solidFill>
                <a:latin typeface="Microsoft YaHei"/>
                <a:ea typeface="Microsoft YaHei"/>
                <a:cs typeface="Microsoft YaHei"/>
              </a:rPr>
              <a:t>同一份分析结果驱动四类图表，避免多个报表口径不一致。</a:t>
            </a:r>
          </a:p>
        </p:txBody>
      </p:sp>
      <p:sp>
        <p:nvSpPr>
          <p:cNvPr id="10" name="graph-summary-rule">
            <a:extLst xmlns:a="http://schemas.openxmlformats.org/drawingml/2006/main">
              <a:ext uri="{FF2B5EF4-FFF2-40B4-BE49-F238E27FC236}">
                <a16:creationId xmlns:a16="http://schemas.microsoft.com/office/drawing/2014/main" id="{7387221F-65D8-4748-B1B2-67F7CA80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0560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D"/>
            </a:solidFill>
            <a:prstDash val="solid"/>
          </a:ln>
        </p:spPr>
      </p:sp>
      <p:sp>
        <p:nvSpPr>
          <p:cNvPr id="11" name="graph-summary">
            <a:extLst xmlns:a="http://schemas.openxmlformats.org/drawingml/2006/main">
              <a:ext uri="{FF2B5EF4-FFF2-40B4-BE49-F238E27FC236}">
                <a16:creationId xmlns:a16="http://schemas.microsoft.com/office/drawing/2014/main" id="{E1013514-4DE6-4B17-8B9B-34DB3302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72300"/>
            <a:ext cx="134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rPr>
              <a:t>从图谱定位关键文献，再回到文献表核对来源、引用与质量分，形成可追溯的证据链。</a:t>
            </a:r>
          </a:p>
        </p:txBody>
      </p:sp>
    </p:spTree>
    <p:extLst>
      <p:ext uri="{BB962C8B-B14F-4D97-AF65-F5344CB8AC3E}">
        <p14:creationId xmlns:p14="http://schemas.microsoft.com/office/powerpoint/2010/main" val="12882401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9">
            <a:extLst xmlns:a="http://schemas.openxmlformats.org/drawingml/2006/main">
              <a:ext uri="{FF2B5EF4-FFF2-40B4-BE49-F238E27FC236}">
                <a16:creationId xmlns:a16="http://schemas.microsoft.com/office/drawing/2014/main" id="{86A3918C-5DCC-4127-B88B-45DC29F8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33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验证：真实检索、离线演示与自动化测试</a:t>
            </a:r>
          </a:p>
        </p:txBody>
      </p:sp>
      <p:sp>
        <p:nvSpPr>
          <p:cNvPr id="2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4811EF87-C384-403C-98AA-F8E3B5DC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E6FF"/>
            </a:solidFill>
            <a:prstDash val="solid"/>
          </a:ln>
        </p:spPr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E1F4781-AD0B-4E9D-A0A8-7F1D65DA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val-value-篇文献">
            <a:extLst xmlns:a="http://schemas.openxmlformats.org/drawingml/2006/main">
              <a:ext uri="{FF2B5EF4-FFF2-40B4-BE49-F238E27FC236}">
                <a16:creationId xmlns:a16="http://schemas.microsoft.com/office/drawing/2014/main" id="{BCB535AD-38F2-4ADF-8761-FD75656B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75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rPr>
              <a:t>148</a:t>
            </a:r>
          </a:p>
        </p:txBody>
      </p:sp>
      <p:sp>
        <p:nvSpPr>
          <p:cNvPr id="5" name="val-label-篇文献">
            <a:extLst xmlns:a="http://schemas.openxmlformats.org/drawingml/2006/main">
              <a:ext uri="{FF2B5EF4-FFF2-40B4-BE49-F238E27FC236}">
                <a16:creationId xmlns:a16="http://schemas.microsoft.com/office/drawing/2014/main" id="{FAA11560-619B-4B6C-9168-211CB0CF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rPr>
              <a:t>篇文献</a:t>
            </a:r>
          </a:p>
        </p:txBody>
      </p:sp>
      <p:sp>
        <p:nvSpPr>
          <p:cNvPr id="6" name="val-value-完成全流程">
            <a:extLst xmlns:a="http://schemas.openxmlformats.org/drawingml/2006/main">
              <a:ext uri="{FF2B5EF4-FFF2-40B4-BE49-F238E27FC236}">
                <a16:creationId xmlns:a16="http://schemas.microsoft.com/office/drawing/2014/main" id="{5AB11FC2-C957-485D-96DB-9A7464DB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383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750" b="1">
                <a:solidFill>
                  <a:srgbClr val="38F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38F0A0"/>
                </a:solidFill>
                <a:latin typeface="Microsoft YaHei"/>
                <a:ea typeface="Microsoft YaHei"/>
                <a:cs typeface="Microsoft YaHei"/>
              </a:rPr>
              <a:t>42.7 s</a:t>
            </a:r>
          </a:p>
        </p:txBody>
      </p:sp>
      <p:sp>
        <p:nvSpPr>
          <p:cNvPr id="7" name="val-label-完成全流程">
            <a:extLst xmlns:a="http://schemas.openxmlformats.org/drawingml/2006/main">
              <a:ext uri="{FF2B5EF4-FFF2-40B4-BE49-F238E27FC236}">
                <a16:creationId xmlns:a16="http://schemas.microsoft.com/office/drawing/2014/main" id="{F84D292C-22BB-43A8-BA19-485BCC20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rPr>
              <a:t>完成全流程</a:t>
            </a:r>
          </a:p>
        </p:txBody>
      </p:sp>
      <p:sp>
        <p:nvSpPr>
          <p:cNvPr id="8" name="val-value-篇高质量文献">
            <a:extLst xmlns:a="http://schemas.openxmlformats.org/drawingml/2006/main">
              <a:ext uri="{FF2B5EF4-FFF2-40B4-BE49-F238E27FC236}">
                <a16:creationId xmlns:a16="http://schemas.microsoft.com/office/drawing/2014/main" id="{AB03C182-B79D-4F7F-A33A-41868BF8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75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rPr>
              <a:t>144</a:t>
            </a:r>
          </a:p>
        </p:txBody>
      </p:sp>
      <p:sp>
        <p:nvSpPr>
          <p:cNvPr id="9" name="val-label-篇高质量文献">
            <a:extLst xmlns:a="http://schemas.openxmlformats.org/drawingml/2006/main">
              <a:ext uri="{FF2B5EF4-FFF2-40B4-BE49-F238E27FC236}">
                <a16:creationId xmlns:a16="http://schemas.microsoft.com/office/drawing/2014/main" id="{E5C890BB-E5FD-4C72-B23D-8DE9D42A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rPr>
              <a:t>篇高质量文献</a:t>
            </a:r>
          </a:p>
        </p:txBody>
      </p:sp>
      <p:sp>
        <p:nvSpPr>
          <p:cNvPr id="10" name="val-value-条图谱边">
            <a:extLst xmlns:a="http://schemas.openxmlformats.org/drawingml/2006/main">
              <a:ext uri="{FF2B5EF4-FFF2-40B4-BE49-F238E27FC236}">
                <a16:creationId xmlns:a16="http://schemas.microsoft.com/office/drawing/2014/main" id="{2E325B26-C7BA-4547-858E-953B2F03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750" b="1">
                <a:solidFill>
                  <a:srgbClr val="A0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A06BFF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11" name="val-label-条图谱边">
            <a:extLst xmlns:a="http://schemas.openxmlformats.org/drawingml/2006/main">
              <a:ext uri="{FF2B5EF4-FFF2-40B4-BE49-F238E27FC236}">
                <a16:creationId xmlns:a16="http://schemas.microsoft.com/office/drawing/2014/main" id="{036544DF-5AF8-4AC8-B819-D36FE797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rPr>
              <a:t>条图谱边</a:t>
            </a:r>
          </a:p>
        </p:txBody>
      </p:sp>
      <p:sp>
        <p:nvSpPr>
          <p:cNvPr id="12" name="val-value-项测试通过">
            <a:extLst xmlns:a="http://schemas.openxmlformats.org/drawingml/2006/main">
              <a:ext uri="{FF2B5EF4-FFF2-40B4-BE49-F238E27FC236}">
                <a16:creationId xmlns:a16="http://schemas.microsoft.com/office/drawing/2014/main" id="{5383FCF2-E069-4FF8-B947-0D956498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0383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750" b="1">
                <a:solidFill>
                  <a:srgbClr val="38F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38F0A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13" name="val-label-项测试通过">
            <a:extLst xmlns:a="http://schemas.openxmlformats.org/drawingml/2006/main">
              <a:ext uri="{FF2B5EF4-FFF2-40B4-BE49-F238E27FC236}">
                <a16:creationId xmlns:a16="http://schemas.microsoft.com/office/drawing/2014/main" id="{073E15B9-CC7F-43F7-BB8D-A3D1638F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rPr>
              <a:t>项测试通过</a:t>
            </a:r>
          </a:p>
        </p:txBody>
      </p:sp>
      <p:sp>
        <p:nvSpPr>
          <p:cNvPr id="14" name="val-rule">
            <a:extLst xmlns:a="http://schemas.openxmlformats.org/drawingml/2006/main">
              <a:ext uri="{FF2B5EF4-FFF2-40B4-BE49-F238E27FC236}">
                <a16:creationId xmlns:a16="http://schemas.microsoft.com/office/drawing/2014/main" id="{0DD60E8D-6FC3-491C-B168-273F6D88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D"/>
            </a:solidFill>
            <a:prstDash val="solid"/>
          </a:ln>
        </p:spPr>
      </p:sp>
      <p:sp>
        <p:nvSpPr>
          <p:cNvPr id="15" name="val-real-head">
            <a:extLst xmlns:a="http://schemas.openxmlformats.org/drawingml/2006/main">
              <a:ext uri="{FF2B5EF4-FFF2-40B4-BE49-F238E27FC236}">
                <a16:creationId xmlns:a16="http://schemas.microsoft.com/office/drawing/2014/main" id="{FFF34087-7076-498E-870D-F725ABA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真实任务</a:t>
            </a:r>
          </a:p>
        </p:txBody>
      </p:sp>
      <p:sp>
        <p:nvSpPr>
          <p:cNvPr id="16" name="val-real-body">
            <a:extLst xmlns:a="http://schemas.openxmlformats.org/drawingml/2006/main">
              <a:ext uri="{FF2B5EF4-FFF2-40B4-BE49-F238E27FC236}">
                <a16:creationId xmlns:a16="http://schemas.microsoft.com/office/drawing/2014/main" id="{1F4CAB59-A543-4888-9BB8-B3F0EE9D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6477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rPr>
              <a:t>2026-10-15 · 查询“perovskite solar cell stability” · standard 深度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rPr>
              <a:t>检索 148 篇，高质量 144 篇；知识图谱 144 节点、2023 条边、10 个社区；系统评估 TRL 9；报告 Markdown 11.5 KB。</a:t>
            </a:r>
          </a:p>
        </p:txBody>
      </p:sp>
      <p:sp>
        <p:nvSpPr>
          <p:cNvPr id="17" name="val-eng-head">
            <a:extLst xmlns:a="http://schemas.openxmlformats.org/drawingml/2006/main">
              <a:ext uri="{FF2B5EF4-FFF2-40B4-BE49-F238E27FC236}">
                <a16:creationId xmlns:a16="http://schemas.microsoft.com/office/drawing/2014/main" id="{6A53157F-6E8C-4BA1-A044-0D878AAC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工程验证</a:t>
            </a:r>
          </a:p>
        </p:txBody>
      </p:sp>
      <p:sp>
        <p:nvSpPr>
          <p:cNvPr id="18" name="val-eng-body">
            <a:extLst xmlns:a="http://schemas.openxmlformats.org/drawingml/2006/main">
              <a:ext uri="{FF2B5EF4-FFF2-40B4-BE49-F238E27FC236}">
                <a16:creationId xmlns:a16="http://schemas.microsoft.com/office/drawing/2014/main" id="{9F9DB556-EB76-4676-A97E-8D4A2602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71950"/>
            <a:ext cx="6267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rPr>
              <a:t>Web /health 返回 200；离线演示数据加载 12 篇文献；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8D8E9"/>
                </a:solidFill>
                <a:latin typeface="Microsoft YaHei"/>
                <a:ea typeface="Microsoft YaHei"/>
                <a:cs typeface="Microsoft YaHei"/>
              </a:rPr>
              <a:t>自动化测试 29 项全部通过；启动脚本支持端口检查与服务就绪检测。</a:t>
            </a:r>
          </a:p>
        </p:txBody>
      </p:sp>
      <p:sp>
        <p:nvSpPr>
          <p:cNvPr id="19" name="val-caveat">
            <a:extLst xmlns:a="http://schemas.openxmlformats.org/drawingml/2006/main">
              <a:ext uri="{FF2B5EF4-FFF2-40B4-BE49-F238E27FC236}">
                <a16:creationId xmlns:a16="http://schemas.microsoft.com/office/drawing/2014/main" id="{F6A32AC5-BB6F-4E47-9295-72C19AAA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1341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rPr>
              <a:t>说明：TRL 9 为系统基于检索证据给出的评估结果，不替代领域专家评审；性能数据来自本机开发环境。</a:t>
            </a:r>
          </a:p>
        </p:txBody>
      </p:sp>
      <p:sp>
        <p:nvSpPr>
          <p:cNvPr id="20" name="val-source">
            <a:extLst xmlns:a="http://schemas.openxmlformats.org/drawingml/2006/main">
              <a:ext uri="{FF2B5EF4-FFF2-40B4-BE49-F238E27FC236}">
                <a16:creationId xmlns:a16="http://schemas.microsoft.com/office/drawing/2014/main" id="{F9EC0520-BA8F-4478-9A22-6890514A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96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rPr>
              <a:t>数据来源：DEPLOYMENT_STATUS.md、pytest 运行记录、本地 Web 实例。</a:t>
            </a:r>
          </a:p>
        </p:txBody>
      </p:sp>
    </p:spTree>
    <p:extLst>
      <p:ext uri="{BB962C8B-B14F-4D97-AF65-F5344CB8AC3E}">
        <p14:creationId xmlns:p14="http://schemas.microsoft.com/office/powerpoint/2010/main" val="7462961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0">
            <a:extLst xmlns:a="http://schemas.openxmlformats.org/drawingml/2006/main">
              <a:ext uri="{FF2B5EF4-FFF2-40B4-BE49-F238E27FC236}">
                <a16:creationId xmlns:a16="http://schemas.microsoft.com/office/drawing/2014/main" id="{E2D12DDD-E7A7-415D-93B0-5866D292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257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应用价值与下一步</a:t>
            </a:r>
          </a:p>
        </p:txBody>
      </p:sp>
      <p:sp>
        <p:nvSpPr>
          <p:cNvPr id="2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06CAC2A2-6D3F-4F38-9908-3A6DC740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E6FF"/>
            </a:solidFill>
            <a:prstDash val="solid"/>
          </a:ln>
        </p:spPr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EB2E7171-A8D4-489D-9396-08D9F266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69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value-head">
            <a:extLst xmlns:a="http://schemas.openxmlformats.org/drawingml/2006/main">
              <a:ext uri="{FF2B5EF4-FFF2-40B4-BE49-F238E27FC236}">
                <a16:creationId xmlns:a16="http://schemas.microsoft.com/office/drawing/2014/main" id="{5D21962D-D50A-4BF3-AF66-25D0CE77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5E6FF"/>
                </a:solidFill>
                <a:latin typeface="Microsoft YaHei"/>
                <a:ea typeface="Microsoft YaHei"/>
                <a:cs typeface="Microsoft YaHei"/>
              </a:rPr>
              <a:t>现在能带来的价值</a:t>
            </a:r>
          </a:p>
        </p:txBody>
      </p:sp>
      <p:sp>
        <p:nvSpPr>
          <p:cNvPr id="5" name="value-body">
            <a:extLst xmlns:a="http://schemas.openxmlformats.org/drawingml/2006/main">
              <a:ext uri="{FF2B5EF4-FFF2-40B4-BE49-F238E27FC236}">
                <a16:creationId xmlns:a16="http://schemas.microsoft.com/office/drawing/2014/main" id="{A3F98B09-036B-4213-9153-641E56C9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500" b="0">
                <a:solidFill>
                  <a:srgbClr val="D3E0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3E0EE"/>
                </a:solidFill>
                <a:latin typeface="Microsoft YaHei"/>
                <a:ea typeface="Microsoft YaHei"/>
                <a:cs typeface="Microsoft YaHei"/>
              </a:rPr>
              <a:t>跨库检索、去重、图谱与报告串成一次任务，减少重复劳动。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500" b="0">
                <a:solidFill>
                  <a:srgbClr val="D3E0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3E0EE"/>
                </a:solidFill>
                <a:latin typeface="Microsoft YaHei"/>
                <a:ea typeface="Microsoft YaHei"/>
                <a:cs typeface="Microsoft YaHei"/>
              </a:rPr>
              <a:t>文献证据、成熟度判断与创新假设放在同一工作台，方便复核。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500" b="0">
                <a:solidFill>
                  <a:srgbClr val="D3E0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3E0EE"/>
                </a:solidFill>
                <a:latin typeface="Microsoft YaHei"/>
                <a:ea typeface="Microsoft YaHei"/>
                <a:cs typeface="Microsoft YaHei"/>
              </a:rPr>
              <a:t>无 API Key 也能用演示数据完整走通，适合评审现场与离线环境。</a:t>
            </a:r>
          </a:p>
        </p:txBody>
      </p:sp>
      <p:sp>
        <p:nvSpPr>
          <p:cNvPr id="6" name="next-head">
            <a:extLst xmlns:a="http://schemas.openxmlformats.org/drawingml/2006/main">
              <a:ext uri="{FF2B5EF4-FFF2-40B4-BE49-F238E27FC236}">
                <a16:creationId xmlns:a16="http://schemas.microsoft.com/office/drawing/2014/main" id="{448D598E-444E-40FC-A16E-BDC2898C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A0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06BFF"/>
                </a:solidFill>
                <a:latin typeface="Microsoft YaHei"/>
                <a:ea typeface="Microsoft YaHei"/>
                <a:cs typeface="Microsoft YaHei"/>
              </a:rPr>
              <a:t>边界与下一步</a:t>
            </a:r>
          </a:p>
        </p:txBody>
      </p:sp>
      <p:sp>
        <p:nvSpPr>
          <p:cNvPr id="7" name="next-body">
            <a:extLst xmlns:a="http://schemas.openxmlformats.org/drawingml/2006/main">
              <a:ext uri="{FF2B5EF4-FFF2-40B4-BE49-F238E27FC236}">
                <a16:creationId xmlns:a16="http://schemas.microsoft.com/office/drawing/2014/main" id="{E0D7BFE6-8D02-4458-86CD-BBB1C1B6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500" b="0">
                <a:solidFill>
                  <a:srgbClr val="D3E0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3E0EE"/>
                </a:solidFill>
                <a:latin typeface="Microsoft YaHei"/>
                <a:ea typeface="Microsoft YaHei"/>
                <a:cs typeface="Microsoft YaHei"/>
              </a:rPr>
              <a:t>检索以英文关键词为主，中文长句需先抽取主题。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500" b="0">
                <a:solidFill>
                  <a:srgbClr val="D3E0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3E0EE"/>
                </a:solidFill>
                <a:latin typeface="Microsoft YaHei"/>
                <a:ea typeface="Microsoft YaHei"/>
                <a:cs typeface="Microsoft YaHei"/>
              </a:rPr>
              <a:t>未配置 LLM 时，假设生成会降级为模板或 mock 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500" b="0">
                <a:solidFill>
                  <a:srgbClr val="D3E0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3E0EE"/>
                </a:solidFill>
                <a:latin typeface="Microsoft YaHei"/>
                <a:ea typeface="Microsoft YaHei"/>
                <a:cs typeface="Microsoft YaHei"/>
              </a:rPr>
              <a:t>后续：任务持久化、更多数据源、报告模板与实验数据管理。</a:t>
            </a:r>
          </a:p>
        </p:txBody>
      </p:sp>
      <p:sp>
        <p:nvSpPr>
          <p:cNvPr id="8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130BD7CB-38CB-4D50-BF41-0247D741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364D"/>
            </a:solidFill>
            <a:prstDash val="solid"/>
          </a:ln>
        </p:spPr>
      </p:sp>
      <p:sp>
        <p:nvSpPr>
          <p:cNvPr id="9" name="closing">
            <a:extLst xmlns:a="http://schemas.openxmlformats.org/drawingml/2006/main">
              <a:ext uri="{FF2B5EF4-FFF2-40B4-BE49-F238E27FC236}">
                <a16:creationId xmlns:a16="http://schemas.microsoft.com/office/drawing/2014/main" id="{42B2230A-E5CF-4363-94DC-8CFEA8C1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48450"/>
            <a:ext cx="1341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提交包：源码仓库 · 可运行 Demo · 汇报 PPT · 安装说明 · 测试数据</a:t>
            </a:r>
          </a:p>
        </p:txBody>
      </p:sp>
      <p:sp>
        <p:nvSpPr>
          <p:cNvPr id="10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718324EE-160C-4384-9915-200DDB64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24700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1A7C2"/>
                </a:solidFill>
                <a:latin typeface="Microsoft YaHei"/>
                <a:ea typeface="Microsoft YaHei"/>
                <a:cs typeface="Microsoft YaHei"/>
              </a:rPr>
              <a:t>运行：python main.py --mode web  ·  访问 http://localhost:8501</a:t>
            </a:r>
          </a:p>
        </p:txBody>
      </p:sp>
    </p:spTree>
    <p:extLst>
      <p:ext uri="{BB962C8B-B14F-4D97-AF65-F5344CB8AC3E}">
        <p14:creationId xmlns:p14="http://schemas.microsoft.com/office/powerpoint/2010/main" val="264314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2026-10-18T10:52:13.4060000Z</dcterms:created>
  <dcterms:modified xsi:type="dcterms:W3CDTF">2026-10-18T10:52:13.4060000Z</dcterms:modified>
</coreProperties>
</file>